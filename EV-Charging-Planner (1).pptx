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2" r:id="rId1"/>
  </p:sldMasterIdLst>
  <p:notesMasterIdLst>
    <p:notesMasterId r:id="rId13"/>
  </p:notesMasterIdLst>
  <p:sldIdLst>
    <p:sldId id="264" r:id="rId2"/>
    <p:sldId id="265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6" r:id="rId12"/>
  </p:sldIdLst>
  <p:sldSz cx="12192000" cy="6858000"/>
  <p:notesSz cx="6858000" cy="12192000"/>
  <p:embeddedFontLst>
    <p:embeddedFont>
      <p:font typeface="Arial Nova Light" panose="020B0304020202020204" pitchFamily="34" charset="0"/>
      <p:regular r:id="rId14"/>
      <p:italic r:id="rId15"/>
    </p:embeddedFont>
    <p:embeddedFont>
      <p:font typeface="Host Grotesk" panose="020B0604020202020204" charset="0"/>
      <p:regular r:id="rId16"/>
    </p:embeddedFont>
    <p:embeddedFont>
      <p:font typeface="Host Grotesk SemiBold" panose="020B0604020202020204" charset="0"/>
      <p:regular r:id="rId17"/>
    </p:embeddedFont>
    <p:embeddedFont>
      <p:font typeface="Space Grotesk Medium" panose="020B0604020202020204" charset="0"/>
      <p:regular r:id="rId18"/>
    </p:embeddedFont>
    <p:embeddedFont>
      <p:font typeface="Space Mono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143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10/3/2026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35191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0EE6BAA-0080-49BB-A5F6-D96B22DFE410}" type="datetime1">
              <a:rPr lang="en-US" smtClean="0"/>
              <a:t>10/3/2026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4374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21560963-1EEA-4BDE-8FF9-3FEE13B5D43C}" type="datetime1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34476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10/3/2026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4855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78074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10/3/2026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98012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5515BC3-2A9C-497B-B82C-246EEDDDF89C}" type="datetime1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0459356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382713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3E08220-0958-4EB6-84AC-FBA5654D4035}" type="datetime1">
              <a:rPr lang="en-US" smtClean="0"/>
              <a:t>10/3/2026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88122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37D881E9-FF16-48A7-B8AA-A17AAAEAD6E1}" type="datetime1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38314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862C1B48-5712-40E8-928E-1136C5D12A17}" type="datetime1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85718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2BDF39F2-6977-4B14-98E3-4DFE82804B0D}" type="datetime1">
              <a:rPr lang="en-US" smtClean="0"/>
              <a:t>10/3/2026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0098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C1B48-5712-40E8-928E-1136C5D12A17}" type="datetime1">
              <a:rPr lang="en-US" smtClean="0"/>
              <a:t>10/3/2026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36403502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23EC03A-74B3-46B6-A70D-0B367EABDC7F}" type="datetime1">
              <a:rPr lang="en-US" smtClean="0"/>
              <a:t>10/3/2026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30691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D6F66A7C-2450-4D43-AEC7-53AFAE9E8A03}" type="datetime1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802751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FBC323F5-F813-45BA-B261-A7C41DB03AE5}" type="datetime1">
              <a:rPr lang="en-US" smtClean="0"/>
              <a:t>10/3/2026</a:t>
            </a:fld>
            <a:endParaRPr lang="en-US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607078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1">
              <a:rPr lang="en-US" smtClean="0"/>
              <a:t>10/3/2026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0109384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A97960-D10E-4C66-898F-E062784CD6C7}" type="datetime1">
              <a:rPr lang="en-US" smtClean="0"/>
              <a:t>10/3/2026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8415200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7B77AD4-7B4F-4A76-ADEB-9CF6601338DB}" type="datetime1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476431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E0CC3F-E257-4F6E-9E6A-B96D887699EC}" type="datetime1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1245551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0BDAA3E-BE52-42BC-99E8-CCCB81A57ABD}" type="datetime1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584586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B1491A9-BF26-4517-AB22-6183D453A902}" type="datetime1">
              <a:rPr lang="en-US" smtClean="0"/>
              <a:t>10/3/2026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3206771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3A5024DF-23AF-419A-978A-28215FBF1E37}" type="datetime1">
              <a:rPr lang="en-US" smtClean="0"/>
              <a:t>10/3/2026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99716351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B01CFC0-D171-4F9D-A610-2F47C1080058}" type="datetime1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2633226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DA2CEDE-2AB4-4FB8-9551-E0AA4222B1A3}" type="datetime1">
              <a:rPr lang="en-US" smtClean="0"/>
              <a:t>10/3/2026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525072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42483-B3E3-4399-B6B2-4B1D067F8CE5}" type="datetime1">
              <a:rPr lang="en-US" smtClean="0"/>
              <a:t>10/3/2026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902488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36574F-2CAD-411B-9EF3-12D0DF2C09EB}" type="datetime1">
              <a:rPr lang="en-US" smtClean="0"/>
              <a:t>10/3/2026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0677F5-4A8A-4BF1-96BE-3BAE8FBAFE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050611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768725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2">
    <p:bg>
      <p:bgPr>
        <a:solidFill>
          <a:srgbClr val="0A0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4719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7DA2CEDE-2AB4-4FB8-9551-E0AA4222B1A3}" type="datetime1">
              <a:rPr lang="en-US" smtClean="0"/>
              <a:pPr/>
              <a:t>10/3/2026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5E0677F5-4A8A-4BF1-96BE-3BAE8FBAFE2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424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  <p:sldLayoutId id="2147483680" r:id="rId28"/>
    <p:sldLayoutId id="2147483681" r:id="rId29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B88F24-93BA-0E3D-F629-D9F8CCA3C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578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1664D6-FF8E-717B-85DA-E6F7DDFFEC86}"/>
              </a:ext>
            </a:extLst>
          </p:cNvPr>
          <p:cNvSpPr txBox="1"/>
          <p:nvPr/>
        </p:nvSpPr>
        <p:spPr>
          <a:xfrm>
            <a:off x="2080727" y="2202024"/>
            <a:ext cx="279365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Pavan :-25MVCSMR0657</a:t>
            </a:r>
          </a:p>
          <a:p>
            <a:r>
              <a:rPr lang="en-US" dirty="0"/>
              <a:t>Ashok:-25MVCSMR0667</a:t>
            </a:r>
          </a:p>
          <a:p>
            <a:r>
              <a:rPr lang="en-US" dirty="0"/>
              <a:t>Ajay    :-25MVCSMR0668</a:t>
            </a:r>
          </a:p>
          <a:p>
            <a:r>
              <a:rPr lang="en-US" dirty="0" err="1"/>
              <a:t>srinad</a:t>
            </a:r>
            <a:r>
              <a:rPr lang="en-US" dirty="0"/>
              <a:t>:-25MVCSMR0677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2B2669-11AB-07ED-402E-47616E306F32}"/>
              </a:ext>
            </a:extLst>
          </p:cNvPr>
          <p:cNvSpPr txBox="1"/>
          <p:nvPr/>
        </p:nvSpPr>
        <p:spPr>
          <a:xfrm>
            <a:off x="1287624" y="1212980"/>
            <a:ext cx="7399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TOPIC NAME:- electric vehicle </a:t>
            </a:r>
            <a:r>
              <a:rPr lang="en-US" b="1" dirty="0"/>
              <a:t>charging</a:t>
            </a:r>
            <a:r>
              <a:rPr lang="en-US" dirty="0"/>
              <a:t> planner</a:t>
            </a:r>
          </a:p>
        </p:txBody>
      </p:sp>
    </p:spTree>
    <p:extLst>
      <p:ext uri="{BB962C8B-B14F-4D97-AF65-F5344CB8AC3E}">
        <p14:creationId xmlns:p14="http://schemas.microsoft.com/office/powerpoint/2010/main" val="10927805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7209" y="609600"/>
            <a:ext cx="686417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21" dirty="0">
                <a:solidFill>
                  <a:srgbClr val="A7ADC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ALGORITHM DESIGN · EV PLANNING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57209" y="2260600"/>
            <a:ext cx="6508587" cy="192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7200" kern="100" spc="-216" dirty="0">
                <a:solidFill>
                  <a:srgbClr val="F4F5F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EV Charging Planner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57209" y="4358481"/>
            <a:ext cx="6508587" cy="280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00" kern="100" spc="-34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Feasible routes, visible reasoning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7209" y="4781947"/>
            <a:ext cx="650858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Recommend charging stations and least-cost routes while making every algorithmic decision visible.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57209" y="6019800"/>
            <a:ext cx="5848204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A7ADC9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Graph model · Dijkstra · greedy recommendations · React + Flask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7924602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21" dirty="0">
                <a:solidFill>
                  <a:srgbClr val="A7ADC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THE PLANNING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2310"/>
            <a:ext cx="7315017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100" spc="-56" dirty="0">
                <a:solidFill>
                  <a:srgbClr val="F4F5F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The planner balances three real constraints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1480145"/>
            <a:ext cx="507888" cy="38100"/>
          </a:xfrm>
          <a:prstGeom prst="roundRect">
            <a:avLst>
              <a:gd name="adj" fmla="val 49999"/>
            </a:avLst>
          </a:prstGeom>
          <a:solidFill>
            <a:srgbClr val="2A3358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1743670"/>
            <a:ext cx="558786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 route is useful only when it can be driven, charged, and justified.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585" y="4540945"/>
            <a:ext cx="342891" cy="342900"/>
          </a:xfrm>
          <a:prstGeom prst="ellipse">
            <a:avLst/>
          </a:prstGeom>
          <a:solidFill>
            <a:srgbClr val="292E43"/>
          </a:solidFill>
          <a:ln/>
        </p:spPr>
      </p:sp>
      <p:sp>
        <p:nvSpPr>
          <p:cNvPr id="7" name="Text 5"/>
          <p:cNvSpPr/>
          <p:nvPr/>
        </p:nvSpPr>
        <p:spPr>
          <a:xfrm>
            <a:off x="657209" y="4617145"/>
            <a:ext cx="8572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585" y="4963220"/>
            <a:ext cx="2235144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100" spc="-38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Battery reach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09585" y="5419725"/>
            <a:ext cx="223514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Battery level limits which stations and roads are reachable.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149521" y="4540945"/>
            <a:ext cx="342891" cy="342900"/>
          </a:xfrm>
          <a:prstGeom prst="ellipse">
            <a:avLst/>
          </a:prstGeom>
          <a:solidFill>
            <a:srgbClr val="292E43"/>
          </a:solidFill>
          <a:ln/>
        </p:spPr>
      </p:sp>
      <p:sp>
        <p:nvSpPr>
          <p:cNvPr id="11" name="Text 9"/>
          <p:cNvSpPr/>
          <p:nvPr/>
        </p:nvSpPr>
        <p:spPr>
          <a:xfrm>
            <a:off x="3197145" y="4617145"/>
            <a:ext cx="8572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149521" y="4963220"/>
            <a:ext cx="2235144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100" spc="-38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Live availability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149521" y="5419725"/>
            <a:ext cx="223514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Station availability changes which stops are feasible now.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89458" y="4540945"/>
            <a:ext cx="342891" cy="342900"/>
          </a:xfrm>
          <a:prstGeom prst="ellipse">
            <a:avLst/>
          </a:prstGeom>
          <a:solidFill>
            <a:srgbClr val="292E43"/>
          </a:solidFill>
          <a:ln/>
        </p:spPr>
      </p:sp>
      <p:sp>
        <p:nvSpPr>
          <p:cNvPr id="15" name="Text 13"/>
          <p:cNvSpPr/>
          <p:nvPr/>
        </p:nvSpPr>
        <p:spPr>
          <a:xfrm>
            <a:off x="5737081" y="4617145"/>
            <a:ext cx="8572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689458" y="4963220"/>
            <a:ext cx="2235144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100" spc="-38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Route cost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689458" y="5419725"/>
            <a:ext cx="2235144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Travel distance becomes the route cost to minimize.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4084238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21" dirty="0">
                <a:solidFill>
                  <a:srgbClr val="A7ADC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01 · GRAPH MODEL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2310"/>
            <a:ext cx="3474653" cy="746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100" spc="-56" dirty="0">
                <a:solidFill>
                  <a:srgbClr val="F4F5F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Model the journey as a weighted graph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805880"/>
            <a:ext cx="3474653" cy="238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1350"/>
              </a:spcAft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map becomes a searchable structure: locations and charging stations are nodes; drivable connections are edges with non-negative distance costs.</a:t>
            </a:r>
            <a:endParaRPr lang="en-US" sz="15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Each station stores availability, charging impact, and optional wait or detour cost.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497" y="2095500"/>
            <a:ext cx="5821614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947863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21" dirty="0">
                <a:solidFill>
                  <a:srgbClr val="A7ADC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02 · SEARCH CONTROL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2200573"/>
            <a:ext cx="10972526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100" spc="-56" dirty="0">
                <a:solidFill>
                  <a:srgbClr val="F4F5F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Priority Queue keeps the search focused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2770783"/>
            <a:ext cx="558786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At every iteration, the next node is the one with the lowest tentative route cost.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585" y="3501033"/>
            <a:ext cx="8572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F3FB4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09585" y="3767733"/>
            <a:ext cx="2514537" cy="19050"/>
          </a:xfrm>
          <a:prstGeom prst="rect">
            <a:avLst/>
          </a:prstGeom>
          <a:solidFill>
            <a:srgbClr val="FF3FB4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3901083"/>
            <a:ext cx="2514537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100" spc="-38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Seed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09585" y="4357588"/>
            <a:ext cx="251453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Insert the start node with tentative cost 0.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428914" y="3501033"/>
            <a:ext cx="8572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F3FB4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428914" y="3767733"/>
            <a:ext cx="2514537" cy="19050"/>
          </a:xfrm>
          <a:prstGeom prst="rect">
            <a:avLst/>
          </a:prstGeom>
          <a:solidFill>
            <a:srgbClr val="FF3FB4"/>
          </a:solidFill>
          <a:ln/>
        </p:spPr>
      </p:sp>
      <p:sp>
        <p:nvSpPr>
          <p:cNvPr id="11" name="Text 9"/>
          <p:cNvSpPr/>
          <p:nvPr/>
        </p:nvSpPr>
        <p:spPr>
          <a:xfrm>
            <a:off x="3428914" y="3901083"/>
            <a:ext cx="2514537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100" spc="-38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Pop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428914" y="4357588"/>
            <a:ext cx="251453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Remove the cheapest unexplored node.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48244" y="3501033"/>
            <a:ext cx="8572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F3FB4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48244" y="3767733"/>
            <a:ext cx="2514537" cy="19050"/>
          </a:xfrm>
          <a:prstGeom prst="rect">
            <a:avLst/>
          </a:prstGeom>
          <a:solidFill>
            <a:srgbClr val="FF3FB4"/>
          </a:solidFill>
          <a:ln/>
        </p:spPr>
      </p:sp>
      <p:sp>
        <p:nvSpPr>
          <p:cNvPr id="15" name="Text 13"/>
          <p:cNvSpPr/>
          <p:nvPr/>
        </p:nvSpPr>
        <p:spPr>
          <a:xfrm>
            <a:off x="6248244" y="3901083"/>
            <a:ext cx="2514537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100" spc="-38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Relax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248244" y="4357588"/>
            <a:ext cx="251453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Update reachable neighbors and priorities.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067573" y="3501033"/>
            <a:ext cx="85722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500" dirty="0">
                <a:solidFill>
                  <a:srgbClr val="FF3FB4"/>
                </a:solidFill>
                <a:latin typeface="Host Grotesk SemiBold" pitchFamily="34" charset="0"/>
                <a:ea typeface="Host Grotesk SemiBold" pitchFamily="34" charset="-122"/>
                <a:cs typeface="Host Grotesk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9067573" y="3767733"/>
            <a:ext cx="2514537" cy="19050"/>
          </a:xfrm>
          <a:prstGeom prst="rect">
            <a:avLst/>
          </a:prstGeom>
          <a:solidFill>
            <a:srgbClr val="FF3FB4"/>
          </a:solidFill>
          <a:ln/>
        </p:spPr>
      </p:sp>
      <p:sp>
        <p:nvSpPr>
          <p:cNvPr id="19" name="Text 17"/>
          <p:cNvSpPr/>
          <p:nvPr/>
        </p:nvSpPr>
        <p:spPr>
          <a:xfrm>
            <a:off x="9067573" y="3901083"/>
            <a:ext cx="2514537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100" spc="-38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Trace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9067573" y="4357588"/>
            <a:ext cx="2514537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Record predecessors for reconstruction.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4279793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21" dirty="0">
                <a:solidFill>
                  <a:srgbClr val="A7ADC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03 · LEAST-COST SEARCH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2310"/>
            <a:ext cx="3670208" cy="112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100" spc="-56" dirty="0">
                <a:solidFill>
                  <a:srgbClr val="F4F5F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Dijkstra finds the least-cost feasible route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2179241"/>
            <a:ext cx="3670208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Feasibility comes first. Cost comparison happens only among edges the current battery can cover.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585" y="3185716"/>
            <a:ext cx="3670208" cy="2085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Skip edges the current battery cannot cover.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Update a neighbor only when the new route cost is lower.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Stop when the destination is finalized.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Return the path, total distance, visited nodes, and charging stops.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151" y="2095500"/>
            <a:ext cx="5625959" cy="266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21" dirty="0">
                <a:solidFill>
                  <a:srgbClr val="A7ADC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04 · LOCAL DECISION LAYER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2310"/>
            <a:ext cx="10972526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100" spc="-56" dirty="0">
                <a:solidFill>
                  <a:srgbClr val="F4F5F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Greedy recommendations make the next stop obvious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1432520"/>
            <a:ext cx="5587860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recommender narrows the choice to stations that are reachable now, then exposes why one local option wins.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09585" y="4506020"/>
            <a:ext cx="3454314" cy="1742380"/>
          </a:xfrm>
          <a:prstGeom prst="roundRect">
            <a:avLst>
              <a:gd name="adj" fmla="val 1640"/>
            </a:avLst>
          </a:prstGeom>
          <a:solidFill>
            <a:srgbClr val="292E43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4734620"/>
            <a:ext cx="2997125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100" spc="-38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Filter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38179" y="5191125"/>
            <a:ext cx="299712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Reachability and current availability remove impossible stops.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68691" y="4506020"/>
            <a:ext cx="3454314" cy="1742380"/>
          </a:xfrm>
          <a:prstGeom prst="roundRect">
            <a:avLst>
              <a:gd name="adj" fmla="val 1640"/>
            </a:avLst>
          </a:prstGeom>
          <a:solidFill>
            <a:srgbClr val="292E43"/>
          </a:solidFill>
          <a:ln/>
        </p:spPr>
      </p:sp>
      <p:sp>
        <p:nvSpPr>
          <p:cNvPr id="9" name="Text 7"/>
          <p:cNvSpPr/>
          <p:nvPr/>
        </p:nvSpPr>
        <p:spPr>
          <a:xfrm>
            <a:off x="4597285" y="4734620"/>
            <a:ext cx="2997125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100" spc="-38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Rank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597285" y="5191125"/>
            <a:ext cx="2997125" cy="552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Score low detour, high battery gain, and short wait.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7797" y="4506020"/>
            <a:ext cx="3454314" cy="1742380"/>
          </a:xfrm>
          <a:prstGeom prst="roundRect">
            <a:avLst>
              <a:gd name="adj" fmla="val 1640"/>
            </a:avLst>
          </a:prstGeom>
          <a:solidFill>
            <a:srgbClr val="292E43"/>
          </a:solidFill>
          <a:ln/>
        </p:spPr>
      </p:sp>
      <p:sp>
        <p:nvSpPr>
          <p:cNvPr id="12" name="Text 10"/>
          <p:cNvSpPr/>
          <p:nvPr/>
        </p:nvSpPr>
        <p:spPr>
          <a:xfrm>
            <a:off x="8356391" y="4734620"/>
            <a:ext cx="2997125" cy="313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900" kern="100" spc="-38" dirty="0">
                <a:solidFill>
                  <a:srgbClr val="F4F5FA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Repeat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8356391" y="5191125"/>
            <a:ext cx="2997125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Select the best local option, then recompute from the new battery state.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3888682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21" dirty="0">
                <a:solidFill>
                  <a:srgbClr val="A7ADC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05 · EXPLAINABLE INTERFACE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2310"/>
            <a:ext cx="3279098" cy="149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100" spc="-56" dirty="0">
                <a:solidFill>
                  <a:srgbClr val="F4F5F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The interface exposes the algorithm’s reasoning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585" y="2552601"/>
            <a:ext cx="3279098" cy="828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The UI turns internal state into inspectable evidence rather than hiding it behind a single route line.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09585" y="3559076"/>
            <a:ext cx="3279098" cy="2587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React shows the map, battery state, available stations, and selected route.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Flask exposes inputs, route results, recommendation steps, and trace data.</a:t>
            </a:r>
            <a:endParaRPr lang="en-US" sz="1500" dirty="0"/>
          </a:p>
          <a:p>
            <a:pPr marL="304800" indent="-304800" algn="l">
              <a:lnSpc>
                <a:spcPct val="121000"/>
              </a:lnSpc>
              <a:buSzPct val="100000"/>
              <a:buChar char="•"/>
            </a:pPr>
            <a:r>
              <a:rPr lang="en-US" sz="1500" dirty="0">
                <a:solidFill>
                  <a:srgbClr val="DDE0EE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A decision panel shows queue pops, tentative costs, relaxations, and greedy choices.</a:t>
            </a:r>
            <a:endParaRPr lang="en-US" sz="15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4941" y="1794371"/>
            <a:ext cx="6017169" cy="32691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3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50" kern="100" spc="21" dirty="0">
                <a:solidFill>
                  <a:srgbClr val="A7ADC9"/>
                </a:solidFill>
                <a:latin typeface="Space Mono" pitchFamily="34" charset="0"/>
                <a:ea typeface="Space Mono" pitchFamily="34" charset="-122"/>
                <a:cs typeface="Space Mono" pitchFamily="34" charset="-120"/>
              </a:rPr>
              <a:t>06 · EVALUATION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2310"/>
            <a:ext cx="10972526" cy="373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00" kern="100" spc="-56" dirty="0">
                <a:solidFill>
                  <a:srgbClr val="F4F5FA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Compare strategies, not just final routes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1480145"/>
            <a:ext cx="507888" cy="38100"/>
          </a:xfrm>
          <a:prstGeom prst="roundRect">
            <a:avLst>
              <a:gd name="adj" fmla="val 49999"/>
            </a:avLst>
          </a:prstGeom>
          <a:solidFill>
            <a:srgbClr val="2A3358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743670"/>
          <a:ext cx="11061735" cy="2728447"/>
        </p:xfrm>
        <a:graphic>
          <a:graphicData uri="http://schemas.openxmlformats.org/drawingml/2006/table">
            <a:tbl>
              <a:tblPr/>
              <a:tblGrid>
                <a:gridCol w="25880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9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956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211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72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885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26" dirty="0">
                          <a:solidFill>
                            <a:srgbClr val="A7ADC9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Strategy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26" dirty="0">
                          <a:solidFill>
                            <a:srgbClr val="A7ADC9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Strength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26" dirty="0">
                          <a:solidFill>
                            <a:srgbClr val="A7ADC9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Risk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kern="100" spc="26" dirty="0">
                          <a:solidFill>
                            <a:srgbClr val="A7ADC9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Explainability</a:t>
                      </a:r>
                      <a:endParaRPr lang="en-US" sz="13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Space Mono" charset="0"/>
                        <a:ea typeface="Space Mono" charset="0"/>
                        <a:cs typeface="Space Mono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19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DDE0EE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Dijkstra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Optimizes the complete feasible route.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More search work.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Traceable queue and relaxations.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198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DDE0EE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Greedy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Reacts quickly at each stop.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Can miss a better downstream option.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Transparent local score.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563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b="1" dirty="0">
                          <a:solidFill>
                            <a:srgbClr val="DDE0EE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Compare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Distance and number of stops.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Wait or detour cost and runtime.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DDE0EE"/>
                          </a:solidFill>
                          <a:latin typeface="Host Grotesk" pitchFamily="34" charset="0"/>
                          <a:ea typeface="Host Grotesk" pitchFamily="34" charset="-122"/>
                          <a:cs typeface="Host Grotesk" pitchFamily="34" charset="-120"/>
                        </a:rPr>
                        <a:t>Explanation depth.</a:t>
                      </a: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500" dirty="0">
                        <a:latin typeface="Host Grotesk" charset="0"/>
                        <a:ea typeface="Host Grotesk" charset="0"/>
                        <a:cs typeface="Host Grotesk" charset="0"/>
                      </a:endParaRPr>
                    </a:p>
                  </a:txBody>
                  <a:tcPr marL="64008" marR="177796" marT="101598" marB="101598" anchor="ctr">
                    <a:lnL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335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A0F2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4649986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dirty="0">
                <a:solidFill>
                  <a:srgbClr val="A7ADC9"/>
                </a:solidFill>
                <a:latin typeface="Host Grotesk" pitchFamily="34" charset="0"/>
                <a:ea typeface="Host Grotesk" pitchFamily="34" charset="-122"/>
                <a:cs typeface="Host Grotesk" pitchFamily="34" charset="-120"/>
              </a:rPr>
              <a:t>Use the same request and constraints so the tradeoff is visible, not anecdotal.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31FC1FD-6B40-FE54-0111-CAB1E4EF05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662" y="0"/>
            <a:ext cx="122106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624216"/>
      </p:ext>
    </p:extLst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9</TotalTime>
  <Words>525</Words>
  <Application>Microsoft Office PowerPoint</Application>
  <PresentationFormat>Widescreen</PresentationFormat>
  <Paragraphs>90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Host Grotesk SemiBold</vt:lpstr>
      <vt:lpstr>Host Grotesk</vt:lpstr>
      <vt:lpstr>Arial Nova Light</vt:lpstr>
      <vt:lpstr>Space Mono</vt:lpstr>
      <vt:lpstr>Aptos</vt:lpstr>
      <vt:lpstr>Arial</vt:lpstr>
      <vt:lpstr>Space Grotesk Medium</vt:lpstr>
      <vt:lpstr>Dark Gradient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Shaik Jakeer</cp:lastModifiedBy>
  <cp:revision>2</cp:revision>
  <dcterms:created xsi:type="dcterms:W3CDTF">2026-10-03T05:26:12Z</dcterms:created>
  <dcterms:modified xsi:type="dcterms:W3CDTF">2026-10-03T06:58:09Z</dcterms:modified>
</cp:coreProperties>
</file>